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Plus Jakarta Sans ExtraBold"/>
      <p:bold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Plus Jakarta Sans"/>
      <p:bold r:id="rId23"/>
      <p:boldItalic r:id="rId24"/>
    </p:embeddedFont>
    <p:embeddedFont>
      <p:font typeface="Inter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PlusJakartaSans-boldItalic.fntdata"/><Relationship Id="rId23" Type="http://schemas.openxmlformats.org/officeDocument/2006/relationships/font" Target="fonts/PlusJakartaSa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PlusJakartaSansExtraBold-bold.fntdata"/><Relationship Id="rId16" Type="http://schemas.openxmlformats.org/officeDocument/2006/relationships/font" Target="fonts/InterSemiBold-boldItalic.fntdata"/><Relationship Id="rId19" Type="http://schemas.openxmlformats.org/officeDocument/2006/relationships/font" Target="fonts/Inter-regular.fntdata"/><Relationship Id="rId18" Type="http://schemas.openxmlformats.org/officeDocument/2006/relationships/font" Target="fonts/PlusJakartaSansExtra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2cba47245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2cba47245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2cba47245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2cba47245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2cba47245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2cba47245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2cba47245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2cba47245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2cba47245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2cba47245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2cba47245_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2cba47245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2cba47245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f2cba47245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2cba47245_7_0)">
  <p:cSld name="Generated (g3f2cba47245_7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26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20.png"/><Relationship Id="rId15" Type="http://schemas.openxmlformats.org/officeDocument/2006/relationships/image" Target="../media/image16.png"/><Relationship Id="rId14" Type="http://schemas.openxmlformats.org/officeDocument/2006/relationships/image" Target="../media/image21.png"/><Relationship Id="rId5" Type="http://schemas.openxmlformats.org/officeDocument/2006/relationships/image" Target="../media/image6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27.png"/><Relationship Id="rId13" Type="http://schemas.openxmlformats.org/officeDocument/2006/relationships/image" Target="../media/image25.png"/><Relationship Id="rId1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19.png"/><Relationship Id="rId15" Type="http://schemas.openxmlformats.org/officeDocument/2006/relationships/image" Target="../media/image34.png"/><Relationship Id="rId14" Type="http://schemas.openxmlformats.org/officeDocument/2006/relationships/image" Target="../media/image38.png"/><Relationship Id="rId17" Type="http://schemas.openxmlformats.org/officeDocument/2006/relationships/image" Target="../media/image31.png"/><Relationship Id="rId16" Type="http://schemas.openxmlformats.org/officeDocument/2006/relationships/image" Target="../media/image35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Relationship Id="rId18" Type="http://schemas.openxmlformats.org/officeDocument/2006/relationships/image" Target="../media/image32.png"/><Relationship Id="rId7" Type="http://schemas.openxmlformats.org/officeDocument/2006/relationships/image" Target="../media/image18.png"/><Relationship Id="rId8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40.png"/><Relationship Id="rId6" Type="http://schemas.openxmlformats.org/officeDocument/2006/relationships/image" Target="../media/image43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47.png"/><Relationship Id="rId10" Type="http://schemas.openxmlformats.org/officeDocument/2006/relationships/image" Target="../media/image44.png"/><Relationship Id="rId13" Type="http://schemas.openxmlformats.org/officeDocument/2006/relationships/image" Target="../media/image50.png"/><Relationship Id="rId1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46.png"/><Relationship Id="rId15" Type="http://schemas.openxmlformats.org/officeDocument/2006/relationships/image" Target="../media/image53.png"/><Relationship Id="rId14" Type="http://schemas.openxmlformats.org/officeDocument/2006/relationships/image" Target="../media/image52.png"/><Relationship Id="rId5" Type="http://schemas.openxmlformats.org/officeDocument/2006/relationships/image" Target="../media/image41.png"/><Relationship Id="rId6" Type="http://schemas.openxmlformats.org/officeDocument/2006/relationships/image" Target="../media/image37.png"/><Relationship Id="rId7" Type="http://schemas.openxmlformats.org/officeDocument/2006/relationships/image" Target="../media/image48.png"/><Relationship Id="rId8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5">
            <a:alphaModFix/>
          </a:blip>
          <a:srcRect b="100" l="0" r="0" t="100"/>
          <a:stretch/>
        </p:blipFill>
        <p:spPr>
          <a:xfrm>
            <a:off x="666750" y="523875"/>
            <a:ext cx="10858500" cy="231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7" name="Google Shape;57;p14"/>
          <p:cNvGrpSpPr/>
          <p:nvPr/>
        </p:nvGrpSpPr>
        <p:grpSpPr>
          <a:xfrm>
            <a:off x="3324225" y="2828925"/>
            <a:ext cx="5543700" cy="400200"/>
            <a:chOff x="3324225" y="2828925"/>
            <a:chExt cx="5543700" cy="400200"/>
          </a:xfrm>
        </p:grpSpPr>
        <p:pic>
          <p:nvPicPr>
            <p:cNvPr id="58" name="Google Shape;58;p1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24225" y="2828925"/>
              <a:ext cx="5543700" cy="400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" name="Google Shape;59;p14"/>
            <p:cNvSpPr txBox="1"/>
            <p:nvPr/>
          </p:nvSpPr>
          <p:spPr>
            <a:xfrm>
              <a:off x="3429000" y="2838450"/>
              <a:ext cx="5334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60A5FA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Conversational SQL Assistant Powered by Local LLMs</a:t>
              </a:r>
              <a:endParaRPr b="0" sz="1000">
                <a:solidFill>
                  <a:srgbClr val="60A5FA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sp>
        <p:nvSpPr>
          <p:cNvPr id="60" name="Google Shape;60;p14"/>
          <p:cNvSpPr txBox="1"/>
          <p:nvPr/>
        </p:nvSpPr>
        <p:spPr>
          <a:xfrm>
            <a:off x="2286000" y="3381375"/>
            <a:ext cx="7620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5100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QueryCrafter</a:t>
            </a:r>
            <a:endParaRPr b="0" sz="5100">
              <a:solidFill>
                <a:srgbClr val="FFFFFF"/>
              </a:solidFill>
              <a:latin typeface="Plus Jakarta Sans ExtraBold"/>
              <a:ea typeface="Plus Jakarta Sans ExtraBold"/>
              <a:cs typeface="Plus Jakarta Sans ExtraBold"/>
              <a:sym typeface="Plus Jakarta Sans Extra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333500" y="4429125"/>
            <a:ext cx="9525000" cy="10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6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Bridging the Gap Between Natural Language and Relational Databases</a:t>
            </a:r>
            <a:endParaRPr b="0" sz="165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2" name="Google Shape;62;p14"/>
          <p:cNvGrpSpPr/>
          <p:nvPr/>
        </p:nvGrpSpPr>
        <p:grpSpPr>
          <a:xfrm>
            <a:off x="2790330" y="5883621"/>
            <a:ext cx="6613972" cy="450391"/>
            <a:chOff x="2790330" y="5883621"/>
            <a:chExt cx="6613972" cy="450391"/>
          </a:xfrm>
        </p:grpSpPr>
        <p:sp>
          <p:nvSpPr>
            <p:cNvPr id="63" name="Google Shape;63;p14"/>
            <p:cNvSpPr/>
            <p:nvPr/>
          </p:nvSpPr>
          <p:spPr>
            <a:xfrm>
              <a:off x="5003902" y="5883621"/>
              <a:ext cx="9600" cy="381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14"/>
            <p:cNvSpPr/>
            <p:nvPr/>
          </p:nvSpPr>
          <p:spPr>
            <a:xfrm>
              <a:off x="7061302" y="5883621"/>
              <a:ext cx="9600" cy="38100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" name="Google Shape;65;p14"/>
            <p:cNvGrpSpPr/>
            <p:nvPr/>
          </p:nvGrpSpPr>
          <p:grpSpPr>
            <a:xfrm>
              <a:off x="2835031" y="5883621"/>
              <a:ext cx="1788000" cy="198000"/>
              <a:chOff x="0" y="0"/>
              <a:chExt cx="1788000" cy="198000"/>
            </a:xfrm>
          </p:grpSpPr>
          <p:sp>
            <p:nvSpPr>
              <p:cNvPr id="66" name="Google Shape;66;p14"/>
              <p:cNvSpPr/>
              <p:nvPr/>
            </p:nvSpPr>
            <p:spPr>
              <a:xfrm>
                <a:off x="0" y="0"/>
                <a:ext cx="1788000" cy="198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14"/>
              <p:cNvSpPr txBox="1"/>
              <p:nvPr/>
            </p:nvSpPr>
            <p:spPr>
              <a:xfrm>
                <a:off x="0" y="0"/>
                <a:ext cx="1788000" cy="19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LANGUAGE CONVERSION</a:t>
                </a:r>
                <a:endParaRPr b="0" sz="97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68" name="Google Shape;68;p14"/>
            <p:cNvGrpSpPr/>
            <p:nvPr/>
          </p:nvGrpSpPr>
          <p:grpSpPr>
            <a:xfrm>
              <a:off x="2790330" y="6119813"/>
              <a:ext cx="1877400" cy="214200"/>
              <a:chOff x="0" y="0"/>
              <a:chExt cx="1877400" cy="214200"/>
            </a:xfrm>
          </p:grpSpPr>
          <p:sp>
            <p:nvSpPr>
              <p:cNvPr id="69" name="Google Shape;69;p14"/>
              <p:cNvSpPr/>
              <p:nvPr/>
            </p:nvSpPr>
            <p:spPr>
              <a:xfrm>
                <a:off x="0" y="0"/>
                <a:ext cx="1877400" cy="214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14"/>
              <p:cNvSpPr txBox="1"/>
              <p:nvPr/>
            </p:nvSpPr>
            <p:spPr>
              <a:xfrm>
                <a:off x="0" y="0"/>
                <a:ext cx="1877400" cy="21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Natural → SQL</a:t>
                </a:r>
                <a:endParaRPr b="1" sz="135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71" name="Google Shape;71;p14"/>
            <p:cNvGrpSpPr/>
            <p:nvPr/>
          </p:nvGrpSpPr>
          <p:grpSpPr>
            <a:xfrm>
              <a:off x="5394427" y="5883621"/>
              <a:ext cx="1285800" cy="198000"/>
              <a:chOff x="0" y="0"/>
              <a:chExt cx="1285800" cy="198000"/>
            </a:xfrm>
          </p:grpSpPr>
          <p:sp>
            <p:nvSpPr>
              <p:cNvPr id="72" name="Google Shape;72;p14"/>
              <p:cNvSpPr/>
              <p:nvPr/>
            </p:nvSpPr>
            <p:spPr>
              <a:xfrm>
                <a:off x="0" y="0"/>
                <a:ext cx="1285800" cy="198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14"/>
              <p:cNvSpPr txBox="1"/>
              <p:nvPr/>
            </p:nvSpPr>
            <p:spPr>
              <a:xfrm>
                <a:off x="0" y="0"/>
                <a:ext cx="1285800" cy="19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INFRASTRUCTURE</a:t>
                </a:r>
                <a:endParaRPr b="0" sz="97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74" name="Google Shape;74;p14"/>
            <p:cNvGrpSpPr/>
            <p:nvPr/>
          </p:nvGrpSpPr>
          <p:grpSpPr>
            <a:xfrm>
              <a:off x="5362280" y="6119813"/>
              <a:ext cx="1350300" cy="214200"/>
              <a:chOff x="0" y="0"/>
              <a:chExt cx="1350300" cy="214200"/>
            </a:xfrm>
          </p:grpSpPr>
          <p:sp>
            <p:nvSpPr>
              <p:cNvPr id="75" name="Google Shape;75;p14"/>
              <p:cNvSpPr/>
              <p:nvPr/>
            </p:nvSpPr>
            <p:spPr>
              <a:xfrm>
                <a:off x="0" y="0"/>
                <a:ext cx="1350300" cy="214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14"/>
              <p:cNvSpPr txBox="1"/>
              <p:nvPr/>
            </p:nvSpPr>
            <p:spPr>
              <a:xfrm>
                <a:off x="0" y="0"/>
                <a:ext cx="1350300" cy="21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Local Ollama AI</a:t>
                </a:r>
                <a:endParaRPr b="1" sz="135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  <p:grpSp>
          <p:nvGrpSpPr>
            <p:cNvPr id="77" name="Google Shape;77;p14"/>
            <p:cNvGrpSpPr/>
            <p:nvPr/>
          </p:nvGrpSpPr>
          <p:grpSpPr>
            <a:xfrm>
              <a:off x="7451827" y="5883621"/>
              <a:ext cx="1905000" cy="198000"/>
              <a:chOff x="0" y="0"/>
              <a:chExt cx="1905000" cy="198000"/>
            </a:xfrm>
          </p:grpSpPr>
          <p:sp>
            <p:nvSpPr>
              <p:cNvPr id="78" name="Google Shape;78;p14"/>
              <p:cNvSpPr/>
              <p:nvPr/>
            </p:nvSpPr>
            <p:spPr>
              <a:xfrm>
                <a:off x="0" y="0"/>
                <a:ext cx="1905000" cy="198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14"/>
              <p:cNvSpPr txBox="1"/>
              <p:nvPr/>
            </p:nvSpPr>
            <p:spPr>
              <a:xfrm>
                <a:off x="0" y="0"/>
                <a:ext cx="1905000" cy="19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75">
                    <a:solidFill>
                      <a:srgbClr val="64748B"/>
                    </a:solidFill>
                    <a:latin typeface="Inter"/>
                    <a:ea typeface="Inter"/>
                    <a:cs typeface="Inter"/>
                    <a:sym typeface="Inter"/>
                  </a:rPr>
                  <a:t>EXECUTION MODE</a:t>
                </a:r>
                <a:endParaRPr b="0" sz="975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80" name="Google Shape;80;p14"/>
            <p:cNvGrpSpPr/>
            <p:nvPr/>
          </p:nvGrpSpPr>
          <p:grpSpPr>
            <a:xfrm>
              <a:off x="7404202" y="6119813"/>
              <a:ext cx="2000100" cy="214200"/>
              <a:chOff x="0" y="0"/>
              <a:chExt cx="2000100" cy="214200"/>
            </a:xfrm>
          </p:grpSpPr>
          <p:sp>
            <p:nvSpPr>
              <p:cNvPr id="81" name="Google Shape;81;p14"/>
              <p:cNvSpPr/>
              <p:nvPr/>
            </p:nvSpPr>
            <p:spPr>
              <a:xfrm>
                <a:off x="0" y="0"/>
                <a:ext cx="2000100" cy="2142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14"/>
              <p:cNvSpPr txBox="1"/>
              <p:nvPr/>
            </p:nvSpPr>
            <p:spPr>
              <a:xfrm>
                <a:off x="0" y="0"/>
                <a:ext cx="2000100" cy="214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5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100% Secure &amp; Offline</a:t>
                </a:r>
                <a:endParaRPr b="1" sz="135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5"/>
          <p:cNvPicPr preferRelativeResize="0"/>
          <p:nvPr/>
        </p:nvPicPr>
        <p:blipFill rotWithShape="1">
          <a:blip r:embed="rId5">
            <a:alphaModFix/>
          </a:blip>
          <a:srcRect b="0" l="110" r="120" t="0"/>
          <a:stretch/>
        </p:blipFill>
        <p:spPr>
          <a:xfrm>
            <a:off x="666750" y="523875"/>
            <a:ext cx="10858500" cy="2339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5"/>
          <p:cNvGrpSpPr/>
          <p:nvPr/>
        </p:nvGrpSpPr>
        <p:grpSpPr>
          <a:xfrm>
            <a:off x="666750" y="2857500"/>
            <a:ext cx="11327906" cy="452400"/>
            <a:chOff x="0" y="0"/>
            <a:chExt cx="11327906" cy="452400"/>
          </a:xfrm>
        </p:grpSpPr>
        <p:pic>
          <p:nvPicPr>
            <p:cNvPr id="90" name="Google Shape;90;p15"/>
            <p:cNvPicPr preferRelativeResize="0"/>
            <p:nvPr/>
          </p:nvPicPr>
          <p:blipFill rotWithShape="1">
            <a:blip r:embed="rId6">
              <a:alphaModFix/>
            </a:blip>
            <a:srcRect b="338" l="0" r="0" t="338"/>
            <a:stretch/>
          </p:blipFill>
          <p:spPr>
            <a:xfrm>
              <a:off x="0" y="50597"/>
              <a:ext cx="354900" cy="36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" name="Google Shape;91;p15"/>
            <p:cNvSpPr txBox="1"/>
            <p:nvPr/>
          </p:nvSpPr>
          <p:spPr>
            <a:xfrm>
              <a:off x="469106" y="0"/>
              <a:ext cx="10858800" cy="4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5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The SQL Access Bottleneck</a:t>
              </a:r>
              <a:endParaRPr b="0" sz="285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</p:grpSp>
      <p:grpSp>
        <p:nvGrpSpPr>
          <p:cNvPr id="92" name="Google Shape;92;p15"/>
          <p:cNvGrpSpPr/>
          <p:nvPr/>
        </p:nvGrpSpPr>
        <p:grpSpPr>
          <a:xfrm>
            <a:off x="666750" y="3648666"/>
            <a:ext cx="3467100" cy="2685600"/>
            <a:chOff x="0" y="0"/>
            <a:chExt cx="3467100" cy="2685600"/>
          </a:xfrm>
        </p:grpSpPr>
        <p:pic>
          <p:nvPicPr>
            <p:cNvPr id="93" name="Google Shape;93;p15"/>
            <p:cNvPicPr preferRelativeResize="0"/>
            <p:nvPr/>
          </p:nvPicPr>
          <p:blipFill rotWithShape="1">
            <a:blip r:embed="rId7">
              <a:alphaModFix/>
            </a:blip>
            <a:srcRect b="10" l="0" r="0" t="10"/>
            <a:stretch/>
          </p:blipFill>
          <p:spPr>
            <a:xfrm>
              <a:off x="0" y="0"/>
              <a:ext cx="3467100" cy="268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1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6225" y="3048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" name="Google Shape;95;p15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433388" y="438150"/>
              <a:ext cx="1428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15"/>
            <p:cNvSpPr txBox="1"/>
            <p:nvPr/>
          </p:nvSpPr>
          <p:spPr>
            <a:xfrm>
              <a:off x="276225" y="914400"/>
              <a:ext cx="2914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Technical Barriers</a:t>
              </a:r>
              <a:endParaRPr b="1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97" name="Google Shape;97;p15"/>
            <p:cNvSpPr txBox="1"/>
            <p:nvPr/>
          </p:nvSpPr>
          <p:spPr>
            <a:xfrm>
              <a:off x="276225" y="1304925"/>
              <a:ext cx="2914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Writing raw SQL queries demands deep knowledge of complex database schemas and DDL constraints, creating a steep technical barrier.</a:t>
              </a:r>
              <a:endParaRPr b="0" sz="102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98" name="Google Shape;98;p15"/>
          <p:cNvGrpSpPr/>
          <p:nvPr/>
        </p:nvGrpSpPr>
        <p:grpSpPr>
          <a:xfrm>
            <a:off x="4362450" y="3648666"/>
            <a:ext cx="3467100" cy="2685600"/>
            <a:chOff x="0" y="0"/>
            <a:chExt cx="3467100" cy="2685600"/>
          </a:xfrm>
        </p:grpSpPr>
        <p:pic>
          <p:nvPicPr>
            <p:cNvPr id="99" name="Google Shape;99;p15"/>
            <p:cNvPicPr preferRelativeResize="0"/>
            <p:nvPr/>
          </p:nvPicPr>
          <p:blipFill rotWithShape="1">
            <a:blip r:embed="rId10">
              <a:alphaModFix/>
            </a:blip>
            <a:srcRect b="10" l="0" r="0" t="10"/>
            <a:stretch/>
          </p:blipFill>
          <p:spPr>
            <a:xfrm>
              <a:off x="0" y="0"/>
              <a:ext cx="3467100" cy="268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5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76225" y="3048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09575" y="4381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5"/>
            <p:cNvSpPr txBox="1"/>
            <p:nvPr/>
          </p:nvSpPr>
          <p:spPr>
            <a:xfrm>
              <a:off x="276225" y="914400"/>
              <a:ext cx="2914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Context Switching</a:t>
              </a:r>
              <a:endParaRPr b="1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276225" y="1304925"/>
              <a:ext cx="29148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Developers and analysts lose valuable time constantly context-switching between schema definitions, API testing tools, and codebases.</a:t>
              </a:r>
              <a:endParaRPr b="0" sz="102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04" name="Google Shape;104;p15"/>
          <p:cNvGrpSpPr/>
          <p:nvPr/>
        </p:nvGrpSpPr>
        <p:grpSpPr>
          <a:xfrm>
            <a:off x="8058150" y="3648666"/>
            <a:ext cx="3467100" cy="2685600"/>
            <a:chOff x="0" y="0"/>
            <a:chExt cx="3467100" cy="2685600"/>
          </a:xfrm>
        </p:grpSpPr>
        <p:pic>
          <p:nvPicPr>
            <p:cNvPr id="105" name="Google Shape;105;p15"/>
            <p:cNvPicPr preferRelativeResize="0"/>
            <p:nvPr/>
          </p:nvPicPr>
          <p:blipFill rotWithShape="1">
            <a:blip r:embed="rId13">
              <a:alphaModFix/>
            </a:blip>
            <a:srcRect b="10" l="0" r="0" t="10"/>
            <a:stretch/>
          </p:blipFill>
          <p:spPr>
            <a:xfrm>
              <a:off x="0" y="0"/>
              <a:ext cx="3467100" cy="2685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6" name="Google Shape;106;p15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76225" y="304800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5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09575" y="438150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" name="Google Shape;108;p15"/>
            <p:cNvSpPr txBox="1"/>
            <p:nvPr/>
          </p:nvSpPr>
          <p:spPr>
            <a:xfrm>
              <a:off x="276225" y="914400"/>
              <a:ext cx="2914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Iterative Friction</a:t>
              </a:r>
              <a:endParaRPr b="1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276225" y="1304925"/>
              <a:ext cx="29148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2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Furthermore, refining queries manually—such as adding pricing conditions or specific filters—introduces repetitive boilerplate code. This iterative friction slows down data retrieval and blocks non-technical teams from accessing critical business insights efficiently.</a:t>
              </a:r>
              <a:endParaRPr b="0" sz="102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750" y="523875"/>
            <a:ext cx="10858500" cy="268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" name="Google Shape;116;p16"/>
          <p:cNvGrpSpPr/>
          <p:nvPr/>
        </p:nvGrpSpPr>
        <p:grpSpPr>
          <a:xfrm>
            <a:off x="666750" y="3208734"/>
            <a:ext cx="11375531" cy="452400"/>
            <a:chOff x="666750" y="3208734"/>
            <a:chExt cx="11375531" cy="452400"/>
          </a:xfrm>
        </p:grpSpPr>
        <p:pic>
          <p:nvPicPr>
            <p:cNvPr id="117" name="Google Shape;117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66750" y="3253978"/>
              <a:ext cx="402300" cy="36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16"/>
            <p:cNvSpPr txBox="1"/>
            <p:nvPr/>
          </p:nvSpPr>
          <p:spPr>
            <a:xfrm>
              <a:off x="1183481" y="3208734"/>
              <a:ext cx="10858800" cy="4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5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Engineered for Speed &amp; Safety</a:t>
              </a:r>
              <a:endParaRPr b="0" sz="285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</p:grpSp>
      <p:grpSp>
        <p:nvGrpSpPr>
          <p:cNvPr id="119" name="Google Shape;119;p16"/>
          <p:cNvGrpSpPr/>
          <p:nvPr/>
        </p:nvGrpSpPr>
        <p:grpSpPr>
          <a:xfrm>
            <a:off x="666750" y="3994547"/>
            <a:ext cx="2543100" cy="2339700"/>
            <a:chOff x="0" y="0"/>
            <a:chExt cx="2543100" cy="2339700"/>
          </a:xfrm>
        </p:grpSpPr>
        <p:pic>
          <p:nvPicPr>
            <p:cNvPr id="120" name="Google Shape;120;p16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0"/>
              <a:ext cx="2543100" cy="23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76225" y="276225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2" name="Google Shape;122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85763" y="409575"/>
              <a:ext cx="2382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6"/>
            <p:cNvSpPr txBox="1"/>
            <p:nvPr/>
          </p:nvSpPr>
          <p:spPr>
            <a:xfrm>
              <a:off x="276225" y="885825"/>
              <a:ext cx="1990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75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DDL Ingestion</a:t>
              </a:r>
              <a:endParaRPr b="1" sz="12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276225" y="1240631"/>
              <a:ext cx="1990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2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Robust DDL Schema Mapping via a dedicated control panel, allowing users to input CREATE TABLE statements to give the AI precise domain context.</a:t>
              </a:r>
              <a:endParaRPr b="0" sz="101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" name="Google Shape;125;p16"/>
          <p:cNvGrpSpPr/>
          <p:nvPr/>
        </p:nvGrpSpPr>
        <p:grpSpPr>
          <a:xfrm>
            <a:off x="3438525" y="3994547"/>
            <a:ext cx="2543100" cy="2339700"/>
            <a:chOff x="0" y="0"/>
            <a:chExt cx="2543100" cy="2339700"/>
          </a:xfrm>
        </p:grpSpPr>
        <p:pic>
          <p:nvPicPr>
            <p:cNvPr id="126" name="Google Shape;126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0" y="0"/>
              <a:ext cx="2543100" cy="23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7" name="Google Shape;127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76225" y="276225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19100" y="409575"/>
              <a:ext cx="1716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" name="Google Shape;129;p16"/>
            <p:cNvSpPr txBox="1"/>
            <p:nvPr/>
          </p:nvSpPr>
          <p:spPr>
            <a:xfrm>
              <a:off x="276225" y="885825"/>
              <a:ext cx="1990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75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Configurable API</a:t>
              </a:r>
              <a:endParaRPr b="1" sz="12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0" name="Google Shape;130;p16"/>
            <p:cNvSpPr txBox="1"/>
            <p:nvPr/>
          </p:nvSpPr>
          <p:spPr>
            <a:xfrm>
              <a:off x="276225" y="1240631"/>
              <a:ext cx="1990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2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Configurable API Connections support various HTTP methods, custom headers, and authentication strategies for seamless integration.</a:t>
              </a:r>
              <a:endParaRPr b="0" sz="101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1" name="Google Shape;131;p16"/>
          <p:cNvGrpSpPr/>
          <p:nvPr/>
        </p:nvGrpSpPr>
        <p:grpSpPr>
          <a:xfrm>
            <a:off x="6210300" y="3994547"/>
            <a:ext cx="2543100" cy="2339700"/>
            <a:chOff x="0" y="0"/>
            <a:chExt cx="2543100" cy="2339700"/>
          </a:xfrm>
        </p:grpSpPr>
        <p:pic>
          <p:nvPicPr>
            <p:cNvPr id="132" name="Google Shape;132;p16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0" y="0"/>
              <a:ext cx="2543100" cy="23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16"/>
            <p:cNvPicPr preferRelativeResize="0"/>
            <p:nvPr/>
          </p:nvPicPr>
          <p:blipFill rotWithShape="1">
            <a:blip r:embed="rId14">
              <a:alphaModFix/>
            </a:blip>
            <a:srcRect b="0" l="0" r="0" t="0"/>
            <a:stretch/>
          </p:blipFill>
          <p:spPr>
            <a:xfrm>
              <a:off x="276225" y="276225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6"/>
            <p:cNvPicPr preferRelativeResize="0"/>
            <p:nvPr/>
          </p:nvPicPr>
          <p:blipFill rotWithShape="1">
            <a:blip r:embed="rId15">
              <a:alphaModFix/>
            </a:blip>
            <a:srcRect b="0" l="0" r="0" t="0"/>
            <a:stretch/>
          </p:blipFill>
          <p:spPr>
            <a:xfrm>
              <a:off x="409575" y="409575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16"/>
            <p:cNvSpPr txBox="1"/>
            <p:nvPr/>
          </p:nvSpPr>
          <p:spPr>
            <a:xfrm>
              <a:off x="276225" y="885825"/>
              <a:ext cx="1990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75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Local Engine</a:t>
              </a:r>
              <a:endParaRPr b="1" sz="12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36" name="Google Shape;136;p16"/>
            <p:cNvSpPr txBox="1"/>
            <p:nvPr/>
          </p:nvSpPr>
          <p:spPr>
            <a:xfrm>
              <a:off x="276225" y="1240631"/>
              <a:ext cx="1990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2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An adaptive local results engine provides Dynamic Data Rendering, visualizing outputs as raw JSON payloads or structured tabular data.</a:t>
              </a:r>
              <a:endParaRPr b="0" sz="101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7" name="Google Shape;137;p16"/>
          <p:cNvGrpSpPr/>
          <p:nvPr/>
        </p:nvGrpSpPr>
        <p:grpSpPr>
          <a:xfrm>
            <a:off x="8982075" y="3994547"/>
            <a:ext cx="2543100" cy="2339700"/>
            <a:chOff x="0" y="0"/>
            <a:chExt cx="2543100" cy="2339700"/>
          </a:xfrm>
        </p:grpSpPr>
        <p:pic>
          <p:nvPicPr>
            <p:cNvPr id="138" name="Google Shape;138;p16"/>
            <p:cNvPicPr preferRelativeResize="0"/>
            <p:nvPr/>
          </p:nvPicPr>
          <p:blipFill rotWithShape="1">
            <a:blip r:embed="rId16">
              <a:alphaModFix/>
            </a:blip>
            <a:srcRect b="0" l="0" r="0" t="0"/>
            <a:stretch/>
          </p:blipFill>
          <p:spPr>
            <a:xfrm>
              <a:off x="0" y="0"/>
              <a:ext cx="2543100" cy="233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6"/>
            <p:cNvPicPr preferRelativeResize="0"/>
            <p:nvPr/>
          </p:nvPicPr>
          <p:blipFill rotWithShape="1">
            <a:blip r:embed="rId17">
              <a:alphaModFix/>
            </a:blip>
            <a:srcRect b="0" l="0" r="0" t="0"/>
            <a:stretch/>
          </p:blipFill>
          <p:spPr>
            <a:xfrm>
              <a:off x="276225" y="276225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6"/>
            <p:cNvPicPr preferRelativeResize="0"/>
            <p:nvPr/>
          </p:nvPicPr>
          <p:blipFill rotWithShape="1">
            <a:blip r:embed="rId18">
              <a:alphaModFix/>
            </a:blip>
            <a:srcRect b="0" l="0" r="0" t="0"/>
            <a:stretch/>
          </p:blipFill>
          <p:spPr>
            <a:xfrm>
              <a:off x="395288" y="409575"/>
              <a:ext cx="2190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6"/>
            <p:cNvSpPr txBox="1"/>
            <p:nvPr/>
          </p:nvSpPr>
          <p:spPr>
            <a:xfrm>
              <a:off x="276225" y="885825"/>
              <a:ext cx="1990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75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Session Isolation</a:t>
              </a:r>
              <a:endParaRPr b="1" sz="1275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2" name="Google Shape;142;p16"/>
            <p:cNvSpPr txBox="1"/>
            <p:nvPr/>
          </p:nvSpPr>
          <p:spPr>
            <a:xfrm>
              <a:off x="276225" y="1240631"/>
              <a:ext cx="1990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12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Instantly reset conversations, spin up distinct analytic branches, or swap out mapping structures smoothly while protecting sensitive data.</a:t>
              </a:r>
              <a:endParaRPr b="0" sz="1012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17"/>
          <p:cNvGrpSpPr/>
          <p:nvPr/>
        </p:nvGrpSpPr>
        <p:grpSpPr>
          <a:xfrm>
            <a:off x="666750" y="733425"/>
            <a:ext cx="10096500" cy="571500"/>
            <a:chOff x="666750" y="733425"/>
            <a:chExt cx="10096500" cy="571500"/>
          </a:xfrm>
        </p:grpSpPr>
        <p:grpSp>
          <p:nvGrpSpPr>
            <p:cNvPr id="149" name="Google Shape;149;p17"/>
            <p:cNvGrpSpPr/>
            <p:nvPr/>
          </p:nvGrpSpPr>
          <p:grpSpPr>
            <a:xfrm>
              <a:off x="666750" y="762000"/>
              <a:ext cx="419100" cy="419100"/>
              <a:chOff x="0" y="0"/>
              <a:chExt cx="419100" cy="419100"/>
            </a:xfrm>
          </p:grpSpPr>
          <p:sp>
            <p:nvSpPr>
              <p:cNvPr id="150" name="Google Shape;150;p17"/>
              <p:cNvSpPr/>
              <p:nvPr/>
            </p:nvSpPr>
            <p:spPr>
              <a:xfrm>
                <a:off x="0" y="0"/>
                <a:ext cx="419100" cy="419100"/>
              </a:xfrm>
              <a:prstGeom prst="roundRect">
                <a:avLst>
                  <a:gd fmla="val 27272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7"/>
              <p:cNvSpPr/>
              <p:nvPr/>
            </p:nvSpPr>
            <p:spPr>
              <a:xfrm>
                <a:off x="114300" y="171450"/>
                <a:ext cx="76200" cy="762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7"/>
              <p:cNvSpPr/>
              <p:nvPr/>
            </p:nvSpPr>
            <p:spPr>
              <a:xfrm>
                <a:off x="228600" y="114300"/>
                <a:ext cx="76200" cy="762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7"/>
              <p:cNvSpPr/>
              <p:nvPr/>
            </p:nvSpPr>
            <p:spPr>
              <a:xfrm>
                <a:off x="228600" y="228600"/>
                <a:ext cx="76200" cy="762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54" name="Google Shape;154;p17"/>
              <p:cNvCxnSpPr/>
              <p:nvPr/>
            </p:nvCxnSpPr>
            <p:spPr>
              <a:xfrm flipH="1" rot="10800000">
                <a:off x="152400" y="152250"/>
                <a:ext cx="114300" cy="57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5" name="Google Shape;155;p17"/>
              <p:cNvCxnSpPr/>
              <p:nvPr/>
            </p:nvCxnSpPr>
            <p:spPr>
              <a:xfrm>
                <a:off x="152400" y="209550"/>
                <a:ext cx="114300" cy="573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19050">
                <a:solidFill>
                  <a:srgbClr val="2563EB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56" name="Google Shape;156;p17"/>
            <p:cNvSpPr txBox="1"/>
            <p:nvPr/>
          </p:nvSpPr>
          <p:spPr>
            <a:xfrm>
              <a:off x="1238250" y="733425"/>
              <a:ext cx="952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5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Query Generation Lifecycle</a:t>
              </a:r>
              <a:endParaRPr b="0" sz="285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</p:grpSp>
      <p:sp>
        <p:nvSpPr>
          <p:cNvPr id="157" name="Google Shape;157;p17"/>
          <p:cNvSpPr/>
          <p:nvPr/>
        </p:nvSpPr>
        <p:spPr>
          <a:xfrm>
            <a:off x="1752600" y="3219450"/>
            <a:ext cx="86868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17"/>
          <p:cNvGrpSpPr/>
          <p:nvPr/>
        </p:nvGrpSpPr>
        <p:grpSpPr>
          <a:xfrm>
            <a:off x="1385888" y="2909888"/>
            <a:ext cx="9420300" cy="695400"/>
            <a:chOff x="1385888" y="2909888"/>
            <a:chExt cx="9420300" cy="695400"/>
          </a:xfrm>
        </p:grpSpPr>
        <p:grpSp>
          <p:nvGrpSpPr>
            <p:cNvPr id="159" name="Google Shape;159;p17"/>
            <p:cNvGrpSpPr/>
            <p:nvPr/>
          </p:nvGrpSpPr>
          <p:grpSpPr>
            <a:xfrm>
              <a:off x="1385888" y="2909888"/>
              <a:ext cx="733500" cy="695400"/>
              <a:chOff x="1385888" y="2909888"/>
              <a:chExt cx="733500" cy="695400"/>
            </a:xfrm>
          </p:grpSpPr>
          <p:pic>
            <p:nvPicPr>
              <p:cNvPr id="160" name="Google Shape;160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385888" y="2909888"/>
                <a:ext cx="733500" cy="69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1" name="Google Shape;161;p17"/>
              <p:cNvSpPr txBox="1"/>
              <p:nvPr/>
            </p:nvSpPr>
            <p:spPr>
              <a:xfrm>
                <a:off x="1447800" y="293370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2563EB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1</a:t>
                </a:r>
                <a:endParaRPr b="0" sz="1600">
                  <a:solidFill>
                    <a:srgbClr val="2563EB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grpSp>
          <p:nvGrpSpPr>
            <p:cNvPr id="162" name="Google Shape;162;p17"/>
            <p:cNvGrpSpPr/>
            <p:nvPr/>
          </p:nvGrpSpPr>
          <p:grpSpPr>
            <a:xfrm>
              <a:off x="3557588" y="2909888"/>
              <a:ext cx="733500" cy="695400"/>
              <a:chOff x="3557588" y="2909888"/>
              <a:chExt cx="733500" cy="695400"/>
            </a:xfrm>
          </p:grpSpPr>
          <p:pic>
            <p:nvPicPr>
              <p:cNvPr id="163" name="Google Shape;163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557588" y="2909888"/>
                <a:ext cx="733500" cy="69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4" name="Google Shape;164;p17"/>
              <p:cNvSpPr txBox="1"/>
              <p:nvPr/>
            </p:nvSpPr>
            <p:spPr>
              <a:xfrm>
                <a:off x="3619500" y="293370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2563EB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2</a:t>
                </a:r>
                <a:endParaRPr b="0" sz="1600">
                  <a:solidFill>
                    <a:srgbClr val="2563EB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grpSp>
          <p:nvGrpSpPr>
            <p:cNvPr id="165" name="Google Shape;165;p17"/>
            <p:cNvGrpSpPr/>
            <p:nvPr/>
          </p:nvGrpSpPr>
          <p:grpSpPr>
            <a:xfrm>
              <a:off x="5729288" y="2909888"/>
              <a:ext cx="733500" cy="695400"/>
              <a:chOff x="5729288" y="2909888"/>
              <a:chExt cx="733500" cy="695400"/>
            </a:xfrm>
          </p:grpSpPr>
          <p:pic>
            <p:nvPicPr>
              <p:cNvPr id="166" name="Google Shape;166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5729288" y="2909888"/>
                <a:ext cx="733500" cy="69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7" name="Google Shape;167;p17"/>
              <p:cNvSpPr txBox="1"/>
              <p:nvPr/>
            </p:nvSpPr>
            <p:spPr>
              <a:xfrm>
                <a:off x="5791200" y="293370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2563EB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3</a:t>
                </a:r>
                <a:endParaRPr b="0" sz="1600">
                  <a:solidFill>
                    <a:srgbClr val="2563EB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grpSp>
          <p:nvGrpSpPr>
            <p:cNvPr id="168" name="Google Shape;168;p17"/>
            <p:cNvGrpSpPr/>
            <p:nvPr/>
          </p:nvGrpSpPr>
          <p:grpSpPr>
            <a:xfrm>
              <a:off x="7900988" y="2909888"/>
              <a:ext cx="733500" cy="695400"/>
              <a:chOff x="7900988" y="2909888"/>
              <a:chExt cx="733500" cy="695400"/>
            </a:xfrm>
          </p:grpSpPr>
          <p:pic>
            <p:nvPicPr>
              <p:cNvPr id="169" name="Google Shape;169;p1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7900988" y="2909888"/>
                <a:ext cx="733500" cy="69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0" name="Google Shape;170;p17"/>
              <p:cNvSpPr txBox="1"/>
              <p:nvPr/>
            </p:nvSpPr>
            <p:spPr>
              <a:xfrm>
                <a:off x="7962900" y="293370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2563EB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4</a:t>
                </a:r>
                <a:endParaRPr b="0" sz="1600">
                  <a:solidFill>
                    <a:srgbClr val="2563EB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  <p:grpSp>
          <p:nvGrpSpPr>
            <p:cNvPr id="171" name="Google Shape;171;p17"/>
            <p:cNvGrpSpPr/>
            <p:nvPr/>
          </p:nvGrpSpPr>
          <p:grpSpPr>
            <a:xfrm>
              <a:off x="10072688" y="2909888"/>
              <a:ext cx="733500" cy="695400"/>
              <a:chOff x="10072688" y="2909888"/>
              <a:chExt cx="733500" cy="695400"/>
            </a:xfrm>
          </p:grpSpPr>
          <p:pic>
            <p:nvPicPr>
              <p:cNvPr id="172" name="Google Shape;172;p17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0072688" y="2909888"/>
                <a:ext cx="733500" cy="69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" name="Google Shape;173;p17"/>
              <p:cNvSpPr txBox="1"/>
              <p:nvPr/>
            </p:nvSpPr>
            <p:spPr>
              <a:xfrm>
                <a:off x="10134600" y="2933700"/>
                <a:ext cx="609600" cy="6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600">
                    <a:solidFill>
                      <a:srgbClr val="FFFFFF"/>
                    </a:solidFill>
                    <a:latin typeface="Plus Jakarta Sans ExtraBold"/>
                    <a:ea typeface="Plus Jakarta Sans ExtraBold"/>
                    <a:cs typeface="Plus Jakarta Sans ExtraBold"/>
                    <a:sym typeface="Plus Jakarta Sans ExtraBold"/>
                  </a:rPr>
                  <a:t>5</a:t>
                </a:r>
                <a:endParaRPr b="0" sz="1600">
                  <a:solidFill>
                    <a:srgbClr val="FFFFF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endParaRPr>
              </a:p>
            </p:txBody>
          </p:sp>
        </p:grpSp>
      </p:grpSp>
      <p:grpSp>
        <p:nvGrpSpPr>
          <p:cNvPr id="174" name="Google Shape;174;p17"/>
          <p:cNvGrpSpPr/>
          <p:nvPr/>
        </p:nvGrpSpPr>
        <p:grpSpPr>
          <a:xfrm>
            <a:off x="752475" y="3762375"/>
            <a:ext cx="10686900" cy="2381400"/>
            <a:chOff x="752475" y="3762375"/>
            <a:chExt cx="10686900" cy="2381400"/>
          </a:xfrm>
        </p:grpSpPr>
        <p:sp>
          <p:nvSpPr>
            <p:cNvPr id="175" name="Google Shape;175;p17"/>
            <p:cNvSpPr txBox="1"/>
            <p:nvPr/>
          </p:nvSpPr>
          <p:spPr>
            <a:xfrm>
              <a:off x="752475" y="3762375"/>
              <a:ext cx="20001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Context Initialization</a:t>
              </a:r>
              <a:endParaRPr b="1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Users paste database schemas to activate the secure session.</a:t>
              </a:r>
              <a:endParaRPr b="0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6" name="Google Shape;176;p17"/>
            <p:cNvSpPr txBox="1"/>
            <p:nvPr/>
          </p:nvSpPr>
          <p:spPr>
            <a:xfrm>
              <a:off x="2924175" y="3762375"/>
              <a:ext cx="20001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Natural Query</a:t>
              </a:r>
              <a:endParaRPr b="1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Type a plain English request, like 'Find all food items'.</a:t>
              </a:r>
              <a:endParaRPr b="0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7" name="Google Shape;177;p17"/>
            <p:cNvSpPr txBox="1"/>
            <p:nvPr/>
          </p:nvSpPr>
          <p:spPr>
            <a:xfrm>
              <a:off x="5095875" y="3762375"/>
              <a:ext cx="20001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LLM Synthesis</a:t>
              </a:r>
              <a:endParaRPr b="1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Local Ollama AI drafts the exact, schema-aware SQL query.</a:t>
              </a:r>
              <a:endParaRPr b="0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8" name="Google Shape;178;p17"/>
            <p:cNvSpPr txBox="1"/>
            <p:nvPr/>
          </p:nvSpPr>
          <p:spPr>
            <a:xfrm>
              <a:off x="7267575" y="3762375"/>
              <a:ext cx="20001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Live Execution</a:t>
              </a:r>
              <a:endParaRPr b="1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Assistant queries the mapped database endpoint and translates results.</a:t>
              </a:r>
              <a:endParaRPr b="0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9" name="Google Shape;179;p17"/>
            <p:cNvSpPr txBox="1"/>
            <p:nvPr/>
          </p:nvSpPr>
          <p:spPr>
            <a:xfrm>
              <a:off x="9439275" y="3762375"/>
              <a:ext cx="20001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Contextual Refinement</a:t>
              </a:r>
              <a:endParaRPr b="1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ctr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Type follow-up instructions to instantly update the SQL with new conditions.</a:t>
              </a:r>
              <a:endParaRPr b="0" sz="10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8"/>
          <p:cNvPicPr preferRelativeResize="0"/>
          <p:nvPr/>
        </p:nvPicPr>
        <p:blipFill rotWithShape="1">
          <a:blip r:embed="rId5">
            <a:alphaModFix/>
          </a:blip>
          <a:srcRect b="10" l="0" r="0" t="10"/>
          <a:stretch/>
        </p:blipFill>
        <p:spPr>
          <a:xfrm>
            <a:off x="666750" y="523875"/>
            <a:ext cx="10858500" cy="2618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18"/>
          <p:cNvGrpSpPr/>
          <p:nvPr/>
        </p:nvGrpSpPr>
        <p:grpSpPr>
          <a:xfrm>
            <a:off x="666750" y="3142650"/>
            <a:ext cx="10851506" cy="452400"/>
            <a:chOff x="666750" y="3142650"/>
            <a:chExt cx="10851506" cy="452400"/>
          </a:xfrm>
        </p:grpSpPr>
        <p:pic>
          <p:nvPicPr>
            <p:cNvPr id="187" name="Google Shape;187;p18"/>
            <p:cNvPicPr preferRelativeResize="0"/>
            <p:nvPr/>
          </p:nvPicPr>
          <p:blipFill rotWithShape="1">
            <a:blip r:embed="rId6">
              <a:alphaModFix/>
            </a:blip>
            <a:srcRect b="308" l="0" r="0" t="298"/>
            <a:stretch/>
          </p:blipFill>
          <p:spPr>
            <a:xfrm>
              <a:off x="666750" y="3187894"/>
              <a:ext cx="354900" cy="36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8"/>
            <p:cNvSpPr txBox="1"/>
            <p:nvPr/>
          </p:nvSpPr>
          <p:spPr>
            <a:xfrm>
              <a:off x="1135856" y="3142650"/>
              <a:ext cx="10382400" cy="45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85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Under the Hood Stack</a:t>
              </a:r>
              <a:endParaRPr b="0" sz="285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</p:grpSp>
      <p:grpSp>
        <p:nvGrpSpPr>
          <p:cNvPr id="189" name="Google Shape;189;p18"/>
          <p:cNvGrpSpPr/>
          <p:nvPr/>
        </p:nvGrpSpPr>
        <p:grpSpPr>
          <a:xfrm>
            <a:off x="666750" y="3928472"/>
            <a:ext cx="3467100" cy="2405700"/>
            <a:chOff x="666750" y="3928472"/>
            <a:chExt cx="3467100" cy="2405700"/>
          </a:xfrm>
        </p:grpSpPr>
        <p:pic>
          <p:nvPicPr>
            <p:cNvPr id="190" name="Google Shape;190;p18"/>
            <p:cNvPicPr preferRelativeResize="0"/>
            <p:nvPr/>
          </p:nvPicPr>
          <p:blipFill rotWithShape="1">
            <a:blip r:embed="rId7">
              <a:alphaModFix/>
            </a:blip>
            <a:srcRect b="80" l="0" r="0" t="90"/>
            <a:stretch/>
          </p:blipFill>
          <p:spPr>
            <a:xfrm>
              <a:off x="666750" y="3928472"/>
              <a:ext cx="3467100" cy="240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18"/>
            <p:cNvPicPr preferRelativeResize="0"/>
            <p:nvPr/>
          </p:nvPicPr>
          <p:blipFill rotWithShape="1">
            <a:blip r:embed="rId8">
              <a:alphaModFix/>
            </a:blip>
            <a:srcRect b="1019" l="0" r="0" t="1019"/>
            <a:stretch/>
          </p:blipFill>
          <p:spPr>
            <a:xfrm>
              <a:off x="942975" y="4204697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18"/>
            <p:cNvPicPr preferRelativeResize="0"/>
            <p:nvPr/>
          </p:nvPicPr>
          <p:blipFill rotWithShape="1">
            <a:blip r:embed="rId9">
              <a:alphaModFix/>
            </a:blip>
            <a:srcRect b="475" l="0" r="0" t="475"/>
            <a:stretch/>
          </p:blipFill>
          <p:spPr>
            <a:xfrm>
              <a:off x="1052513" y="4338047"/>
              <a:ext cx="2382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18"/>
            <p:cNvSpPr txBox="1"/>
            <p:nvPr/>
          </p:nvSpPr>
          <p:spPr>
            <a:xfrm>
              <a:off x="942975" y="4814297"/>
              <a:ext cx="2914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Frontend Layer</a:t>
              </a:r>
              <a:endParaRPr b="1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94" name="Google Shape;194;p18"/>
            <p:cNvSpPr txBox="1"/>
            <p:nvPr/>
          </p:nvSpPr>
          <p:spPr>
            <a:xfrm>
              <a:off x="942975" y="5204822"/>
              <a:ext cx="2914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87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The architecture relies on a modern, responsive Frontend Layer built with React, utilizing hooks-driven session states and custom data table parsers.</a:t>
              </a:r>
              <a:endParaRPr b="0" sz="1087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95" name="Google Shape;195;p18"/>
          <p:cNvGrpSpPr/>
          <p:nvPr/>
        </p:nvGrpSpPr>
        <p:grpSpPr>
          <a:xfrm>
            <a:off x="4362450" y="3928472"/>
            <a:ext cx="3467100" cy="2405700"/>
            <a:chOff x="4362450" y="3928472"/>
            <a:chExt cx="3467100" cy="2405700"/>
          </a:xfrm>
        </p:grpSpPr>
        <p:pic>
          <p:nvPicPr>
            <p:cNvPr id="196" name="Google Shape;196;p18"/>
            <p:cNvPicPr preferRelativeResize="0"/>
            <p:nvPr/>
          </p:nvPicPr>
          <p:blipFill rotWithShape="1">
            <a:blip r:embed="rId10">
              <a:alphaModFix/>
            </a:blip>
            <a:srcRect b="80" l="0" r="0" t="90"/>
            <a:stretch/>
          </p:blipFill>
          <p:spPr>
            <a:xfrm>
              <a:off x="4362450" y="3928472"/>
              <a:ext cx="3467100" cy="240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18"/>
            <p:cNvPicPr preferRelativeResize="0"/>
            <p:nvPr/>
          </p:nvPicPr>
          <p:blipFill rotWithShape="1">
            <a:blip r:embed="rId11">
              <a:alphaModFix/>
            </a:blip>
            <a:srcRect b="1019" l="0" r="0" t="1019"/>
            <a:stretch/>
          </p:blipFill>
          <p:spPr>
            <a:xfrm>
              <a:off x="4638675" y="4204697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18"/>
            <p:cNvPicPr preferRelativeResize="0"/>
            <p:nvPr/>
          </p:nvPicPr>
          <p:blipFill rotWithShape="1">
            <a:blip r:embed="rId12">
              <a:alphaModFix/>
            </a:blip>
            <a:srcRect b="475" l="0" r="0" t="475"/>
            <a:stretch/>
          </p:blipFill>
          <p:spPr>
            <a:xfrm>
              <a:off x="4748213" y="4338047"/>
              <a:ext cx="2382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18"/>
            <p:cNvSpPr txBox="1"/>
            <p:nvPr/>
          </p:nvSpPr>
          <p:spPr>
            <a:xfrm>
              <a:off x="4638675" y="4814297"/>
              <a:ext cx="2914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AI Engine (Local Ollama)</a:t>
              </a:r>
              <a:endParaRPr b="1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4638675" y="5204822"/>
              <a:ext cx="2914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87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The core AI Engine utilizes local LLM instances orchestrated securely via Ollama APIs, guaranteeing data privacy.</a:t>
              </a:r>
              <a:endParaRPr b="0" sz="1087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01" name="Google Shape;201;p18"/>
          <p:cNvGrpSpPr/>
          <p:nvPr/>
        </p:nvGrpSpPr>
        <p:grpSpPr>
          <a:xfrm>
            <a:off x="8058150" y="3928472"/>
            <a:ext cx="3467100" cy="2405700"/>
            <a:chOff x="8058150" y="3928472"/>
            <a:chExt cx="3467100" cy="2405700"/>
          </a:xfrm>
        </p:grpSpPr>
        <p:pic>
          <p:nvPicPr>
            <p:cNvPr id="202" name="Google Shape;202;p18"/>
            <p:cNvPicPr preferRelativeResize="0"/>
            <p:nvPr/>
          </p:nvPicPr>
          <p:blipFill rotWithShape="1">
            <a:blip r:embed="rId13">
              <a:alphaModFix/>
            </a:blip>
            <a:srcRect b="80" l="0" r="0" t="90"/>
            <a:stretch/>
          </p:blipFill>
          <p:spPr>
            <a:xfrm>
              <a:off x="8058150" y="3928472"/>
              <a:ext cx="3467100" cy="240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18"/>
            <p:cNvPicPr preferRelativeResize="0"/>
            <p:nvPr/>
          </p:nvPicPr>
          <p:blipFill rotWithShape="1">
            <a:blip r:embed="rId14">
              <a:alphaModFix/>
            </a:blip>
            <a:srcRect b="1019" l="0" r="0" t="1019"/>
            <a:stretch/>
          </p:blipFill>
          <p:spPr>
            <a:xfrm>
              <a:off x="8334375" y="4204697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18"/>
            <p:cNvPicPr preferRelativeResize="0"/>
            <p:nvPr/>
          </p:nvPicPr>
          <p:blipFill rotWithShape="1">
            <a:blip r:embed="rId15">
              <a:alphaModFix/>
            </a:blip>
            <a:srcRect b="2381" l="0" r="0" t="2381"/>
            <a:stretch/>
          </p:blipFill>
          <p:spPr>
            <a:xfrm>
              <a:off x="8467725" y="4338047"/>
              <a:ext cx="190500" cy="1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18"/>
            <p:cNvSpPr txBox="1"/>
            <p:nvPr/>
          </p:nvSpPr>
          <p:spPr>
            <a:xfrm>
              <a:off x="8334375" y="4814297"/>
              <a:ext cx="2914800" cy="23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FFFFFF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Backend Ingestion</a:t>
              </a:r>
              <a:endParaRPr b="1" sz="15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206" name="Google Shape;206;p18"/>
            <p:cNvSpPr txBox="1"/>
            <p:nvPr/>
          </p:nvSpPr>
          <p:spPr>
            <a:xfrm>
              <a:off x="8334375" y="5204822"/>
              <a:ext cx="29148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87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Supporting this is an extensible Backend Layer designed for flexible JSON and CSV data ingestion, complete with automated column and row parsing to handle diverse data structures efficiently.</a:t>
              </a:r>
              <a:endParaRPr b="0" sz="1087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" name="Google Shape;211;p19"/>
          <p:cNvGrpSpPr/>
          <p:nvPr/>
        </p:nvGrpSpPr>
        <p:grpSpPr>
          <a:xfrm>
            <a:off x="666750" y="523875"/>
            <a:ext cx="10096500" cy="451231"/>
            <a:chOff x="0" y="0"/>
            <a:chExt cx="10096500" cy="451231"/>
          </a:xfrm>
        </p:grpSpPr>
        <p:sp>
          <p:nvSpPr>
            <p:cNvPr id="212" name="Google Shape;212;p19"/>
            <p:cNvSpPr/>
            <p:nvPr/>
          </p:nvSpPr>
          <p:spPr>
            <a:xfrm>
              <a:off x="0" y="0"/>
              <a:ext cx="419100" cy="419100"/>
            </a:xfrm>
            <a:prstGeom prst="roundRect">
              <a:avLst>
                <a:gd fmla="val 27272" name="adj"/>
              </a:avLst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9"/>
            <p:cNvSpPr txBox="1"/>
            <p:nvPr/>
          </p:nvSpPr>
          <p:spPr>
            <a:xfrm>
              <a:off x="0" y="32131"/>
              <a:ext cx="4191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2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4" name="Google Shape;214;p19"/>
            <p:cNvSpPr txBox="1"/>
            <p:nvPr/>
          </p:nvSpPr>
          <p:spPr>
            <a:xfrm>
              <a:off x="571500" y="0"/>
              <a:ext cx="95250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590">
                  <a:solidFill>
                    <a:srgbClr val="0F172A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Driving Direct Business Impact</a:t>
              </a:r>
              <a:endParaRPr b="0" sz="2590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</p:txBody>
        </p:sp>
      </p:grpSp>
      <p:grpSp>
        <p:nvGrpSpPr>
          <p:cNvPr id="215" name="Google Shape;215;p19"/>
          <p:cNvGrpSpPr/>
          <p:nvPr/>
        </p:nvGrpSpPr>
        <p:grpSpPr>
          <a:xfrm>
            <a:off x="666750" y="1428750"/>
            <a:ext cx="5048400" cy="4572000"/>
            <a:chOff x="0" y="0"/>
            <a:chExt cx="5048400" cy="4572000"/>
          </a:xfrm>
        </p:grpSpPr>
        <p:sp>
          <p:nvSpPr>
            <p:cNvPr id="216" name="Google Shape;216;p19"/>
            <p:cNvSpPr/>
            <p:nvPr/>
          </p:nvSpPr>
          <p:spPr>
            <a:xfrm>
              <a:off x="0" y="0"/>
              <a:ext cx="5048400" cy="4572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381000" y="381000"/>
              <a:ext cx="4286400" cy="381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200">
                  <a:solidFill>
                    <a:srgbClr val="2563EB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90%</a:t>
              </a:r>
              <a:endParaRPr b="0" sz="8200">
                <a:solidFill>
                  <a:srgbClr val="2563EB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" sz="1350">
                  <a:solidFill>
                    <a:srgbClr val="0F172A"/>
                  </a:solidFill>
                  <a:latin typeface="Inter"/>
                  <a:ea typeface="Inter"/>
                  <a:cs typeface="Inter"/>
                  <a:sym typeface="Inter"/>
                </a:rPr>
                <a:t>REDUCED WAITING TIME</a:t>
              </a:r>
              <a:endParaRPr b="1" sz="135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QueryCrafter drives immense productivity gains by eliminating repetitive SQL writing for engineering teams, freeing them for high-value tasks.</a:t>
              </a:r>
              <a:endParaRPr b="0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18" name="Google Shape;218;p19"/>
          <p:cNvSpPr txBox="1"/>
          <p:nvPr/>
        </p:nvSpPr>
        <p:spPr>
          <a:xfrm>
            <a:off x="6096000" y="1428750"/>
            <a:ext cx="54294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Democratizing Data Securely</a:t>
            </a:r>
            <a:endParaRPr b="1" sz="22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It safely empowers data democratization, opening up direct database exploration to non-technical business stakeholders without compromising security.</a:t>
            </a:r>
            <a:endParaRPr b="0" sz="1350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9" name="Google Shape;219;p19"/>
          <p:cNvGrpSpPr/>
          <p:nvPr/>
        </p:nvGrpSpPr>
        <p:grpSpPr>
          <a:xfrm>
            <a:off x="6096000" y="3333750"/>
            <a:ext cx="2571900" cy="2667000"/>
            <a:chOff x="0" y="0"/>
            <a:chExt cx="2571900" cy="2667000"/>
          </a:xfrm>
        </p:grpSpPr>
        <p:sp>
          <p:nvSpPr>
            <p:cNvPr id="220" name="Google Shape;220;p19"/>
            <p:cNvSpPr/>
            <p:nvPr/>
          </p:nvSpPr>
          <p:spPr>
            <a:xfrm>
              <a:off x="0" y="0"/>
              <a:ext cx="2571900" cy="2667000"/>
            </a:xfrm>
            <a:prstGeom prst="roundRect">
              <a:avLst>
                <a:gd fmla="val 5925" name="adj"/>
              </a:avLst>
            </a:prstGeom>
            <a:solidFill>
              <a:srgbClr val="EFF6FF"/>
            </a:solidFill>
            <a:ln cap="flat" cmpd="sng" w="14300">
              <a:solidFill>
                <a:srgbClr val="DBEA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285750" y="285750"/>
              <a:ext cx="20001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cloud_off</a:t>
              </a:r>
              <a:endParaRPr sz="2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1E40AF"/>
                  </a:solidFill>
                  <a:latin typeface="Plus Jakarta Sans ExtraBold"/>
                  <a:ea typeface="Plus Jakarta Sans ExtraBold"/>
                  <a:cs typeface="Plus Jakarta Sans ExtraBold"/>
                  <a:sym typeface="Plus Jakarta Sans ExtraBold"/>
                </a:rPr>
                <a:t>Zero</a:t>
              </a:r>
              <a:endParaRPr b="0" sz="2400">
                <a:solidFill>
                  <a:srgbClr val="1E40AF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1E3A8A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Cloud Dependency Costs</a:t>
              </a:r>
              <a:endParaRPr b="0" sz="1300">
                <a:solidFill>
                  <a:srgbClr val="1E3A8A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222" name="Google Shape;222;p19"/>
          <p:cNvGrpSpPr/>
          <p:nvPr/>
        </p:nvGrpSpPr>
        <p:grpSpPr>
          <a:xfrm>
            <a:off x="8858250" y="3333750"/>
            <a:ext cx="2667000" cy="2667000"/>
            <a:chOff x="0" y="0"/>
            <a:chExt cx="2667000" cy="2667000"/>
          </a:xfrm>
        </p:grpSpPr>
        <p:sp>
          <p:nvSpPr>
            <p:cNvPr id="223" name="Google Shape;223;p19"/>
            <p:cNvSpPr/>
            <p:nvPr/>
          </p:nvSpPr>
          <p:spPr>
            <a:xfrm>
              <a:off x="0" y="0"/>
              <a:ext cx="2667000" cy="2667000"/>
            </a:xfrm>
            <a:prstGeom prst="roundRect">
              <a:avLst>
                <a:gd fmla="val 5714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9"/>
            <p:cNvSpPr txBox="1"/>
            <p:nvPr/>
          </p:nvSpPr>
          <p:spPr>
            <a:xfrm>
              <a:off x="285750" y="285750"/>
              <a:ext cx="20955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alt_route</a:t>
              </a:r>
              <a:endParaRPr sz="2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65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Roadmap</a:t>
              </a:r>
              <a:endParaRPr b="1" sz="16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The future roadmap includes expanding capabilities to support complex multi-database joins, visual schema graphing, and automated query benchmarking.</a:t>
              </a:r>
              <a:endParaRPr b="0" sz="110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20" title="query_craf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7382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